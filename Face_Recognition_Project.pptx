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00D2FF">
              <a:lumMod val="15000"/>
              <a:lumOff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4572000"/>
            <a:ext cx="3200400" cy="32004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377440"/>
            <a:ext cx="274320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Face Recognition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BEC5"/>
                </a:solidFill>
                <a:latin typeface="Calibri"/>
              </a:defRPr>
            </a:pPr>
            <a:r>
              <a:t>Intelligent Face Detection using Haar Cascade &amp; MTCNN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Python  •  OpenCV  •  TensorFlow  •  MTCNN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645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B0BEC5"/>
                </a:solidFill>
                <a:latin typeface="Calibri"/>
              </a:defRPr>
            </a:pPr>
            <a:r>
              <a:t>This project implements a face detection pipeline that processes images from a dataset, detects human faces using two different approaches — Haar Cascade (classical) and MTCNN (deep learning) — and saves annotated output images with bounding boxes drawn around detected faces.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200400"/>
            <a:ext cx="23774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343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alibri"/>
              </a:defRPr>
            </a:pPr>
            <a:r>
              <a:t>Detect and localize faces</a:t>
            </a:r>
            <a:br/>
            <a:r>
              <a:t>in static images accurately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200400"/>
            <a:ext cx="23774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40" y="4343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alibri"/>
              </a:defRPr>
            </a:pPr>
            <a:r>
              <a:t>Compare classical (Haar)</a:t>
            </a:r>
            <a:br/>
            <a:r>
              <a:t>vs deep learning (MTCNN)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00400"/>
            <a:ext cx="23774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43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alibri"/>
              </a:defRPr>
            </a:pPr>
            <a:r>
              <a:t>Raw images → Detection</a:t>
            </a:r>
            <a:br/>
            <a:r>
              <a:t>→ Annotated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3200400"/>
            <a:ext cx="2377440" cy="2286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34290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2FF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886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343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alibri"/>
              </a:defRPr>
            </a:pPr>
            <a:r>
              <a:t>Visual verification of</a:t>
            </a:r>
            <a:br/>
            <a:r>
              <a:t>bounding box accuracy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74520"/>
            <a:ext cx="201168" cy="201168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002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Python 3.x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783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Core programming language for all scripts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743200"/>
            <a:ext cx="201168" cy="201168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0020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OpenCV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51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Image processing, Haar Cascade face detection, I/O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3611880"/>
            <a:ext cx="201168" cy="201168"/>
          </a:xfrm>
          <a:prstGeom prst="ellipse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TensorFlow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520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Backend framework powering the MTCNN model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4480560"/>
            <a:ext cx="201168" cy="20116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MTCNN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3891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Multi-task CNN for robust face detection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5349240"/>
            <a:ext cx="201168" cy="201168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5212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2578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Array operations and numerical computations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Directory layout and file organization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05840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FaceRecognitionProject/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3042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├── dataset/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68833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onsolas"/>
              </a:defRPr>
            </a:pPr>
            <a:r>
              <a:t>│   ├── raw/               ← input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7238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onsolas"/>
              </a:defRPr>
            </a:pPr>
            <a:r>
              <a:t>│   ├── output/            ← annotated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45643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onsolas"/>
              </a:defRPr>
            </a:pPr>
            <a:r>
              <a:t>│   └── test.jpg           ← setup test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├── models/                ← saved models (future)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22452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├── scripts/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0857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onsolas"/>
              </a:defRPr>
            </a:pPr>
            <a:r>
              <a:t>│   ├── face_detection.py  ← Haar Cascade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992624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onsolas"/>
              </a:defRPr>
            </a:pPr>
            <a:r>
              <a:t>│   ├── mtcnn_detection.py ← MTCNN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3766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BEC5"/>
                </a:solidFill>
                <a:latin typeface="Consolas"/>
              </a:defRPr>
            </a:pPr>
            <a:r>
              <a:t>│   └── test_setup.py      ← environment verifier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Consolas"/>
              </a:defRPr>
            </a:pPr>
            <a:r>
              <a:t>└── venv/                  ← virtual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Haar Cascade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Classical machine learning approach (face_detection.py)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Uses pre-trained Haar feature-based cascade classifier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Converts image to grayscale for processing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Applies histogram equalization for contrast enhancement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detectMultiScale with scaleFactor=1.05, minNeighbors=2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Draws green bounding boxes on detected faces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Saves annotated images to output folder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75488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⚙  Key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scaleFactor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97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Value: 1.05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0175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More sensitive multi-scale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566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minNeighbors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Value: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206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Less strict – reduces missed detections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minSize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074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Value: (20, 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3949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Minimum face size in pixels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MTCNN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Deep learning approach (mtcnn_detection.py)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7C3AE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Multi-task Cascaded Convolutional Network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C3AE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Three-stage cascade: P-Net → R-Net → O-Net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C3AE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Converts BGR to RGB (required by MTCNN)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C3AE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Returns bounding boxes + facial landmarks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C3AE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More accurate than Haar on varied poses/lighting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7C3AED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Powered by TensorFlow backend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1645920"/>
            <a:ext cx="4754880" cy="438912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Calibri"/>
              </a:defRPr>
            </a:pPr>
            <a:r>
              <a:t>🔗  Three-Stage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2468880"/>
            <a:ext cx="9144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468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P-Net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4505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Proposal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7889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Generates candidate face</a:t>
            </a:r>
            <a:br/>
            <a:r>
              <a:t>regions at multiple scales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3703320"/>
            <a:ext cx="9144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3703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R-Net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6850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Refine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4023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Filters false positives</a:t>
            </a:r>
            <a:br/>
            <a:r>
              <a:t>and refines bounding boxes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4937760"/>
            <a:ext cx="91440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4937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O-Net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919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Output Network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525780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Final detection with facial</a:t>
            </a:r>
            <a:br/>
            <a:r>
              <a:t>landmark localization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Haar Cascade vs MTCNN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Comparison of the two detection approaches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828800"/>
            <a:ext cx="310896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Criteria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65760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74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Haar Cascade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828800"/>
            <a:ext cx="3474720" cy="5029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874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Calibri"/>
              </a:defRPr>
            </a:pPr>
            <a:r>
              <a:t>MTCNN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468880"/>
            <a:ext cx="310896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542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Speed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68880"/>
            <a:ext cx="36576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5420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⚡ Very Fast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468880"/>
            <a:ext cx="34747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5420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🐢 Slower (GPU helps)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017520"/>
            <a:ext cx="31089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017520"/>
            <a:ext cx="365760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30906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Moderate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017520"/>
            <a:ext cx="34747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0906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✅ 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3566160"/>
            <a:ext cx="310896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3639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Pose Tolerance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566160"/>
            <a:ext cx="36576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363931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Frontal faces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3566160"/>
            <a:ext cx="34747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63931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Multi-angle 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97280" y="4114800"/>
            <a:ext cx="31089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80160" y="41879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Lighting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114800"/>
            <a:ext cx="365760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0" y="418795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Sensitive to variations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4114800"/>
            <a:ext cx="34747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418795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Robust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4663440"/>
            <a:ext cx="310896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80160" y="47365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Landmarks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663440"/>
            <a:ext cx="36576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47365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❌ Not available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4663440"/>
            <a:ext cx="34747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473659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✅ 5-point landmarks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212080"/>
            <a:ext cx="310896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80160" y="5285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Dependencies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5212080"/>
            <a:ext cx="365760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0" y="528523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OpenCV only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5212080"/>
            <a:ext cx="3474720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528523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TensorFlow + MTCNN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97280" y="5760720"/>
            <a:ext cx="310896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0160" y="58338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Best For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89120" y="5760720"/>
            <a:ext cx="365760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0" y="583387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Real-time / resource-limited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29600" y="5760720"/>
            <a:ext cx="3474720" cy="50292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58338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EC5"/>
                </a:solidFill>
                <a:latin typeface="Calibri"/>
              </a:defRPr>
            </a:pPr>
            <a:r>
              <a:t>High accuracy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End-to-end workflow from input to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11680"/>
            <a:ext cx="192024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88720" y="2286000"/>
            <a:ext cx="731520" cy="7315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Load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Read .jpg/.png files</a:t>
            </a:r>
            <a:br/>
            <a:r>
              <a:t>from dataset/raw/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11680"/>
            <a:ext cx="192024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2286000"/>
            <a:ext cx="731520" cy="731520"/>
          </a:xfrm>
          <a:prstGeom prst="round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331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Preprocess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Grayscale conversion</a:t>
            </a:r>
            <a:br/>
            <a:r>
              <a:t>&amp; histogram equalization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FC3F7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011680"/>
            <a:ext cx="192024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2286000"/>
            <a:ext cx="731520" cy="7315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2331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Detect Faces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Run Haar or MTCNN</a:t>
            </a:r>
            <a:br/>
            <a:r>
              <a:t>detection algorithm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C3AED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40880" y="2011680"/>
            <a:ext cx="192024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35240" y="2286000"/>
            <a:ext cx="731520" cy="7315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2331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Annotate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Draw bounding boxes</a:t>
            </a:r>
            <a:br/>
            <a:r>
              <a:t>around detected faces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8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9F43"/>
                </a:solidFill>
                <a:latin typeface="Calibri"/>
              </a:defRPr>
            </a:pPr>
            <a: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89720" y="2011680"/>
            <a:ext cx="1920240" cy="292608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84080" y="2286000"/>
            <a:ext cx="731520" cy="73152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23317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2004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Calibri"/>
              </a:defRPr>
            </a:pPr>
            <a:r>
              <a:t>Save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6576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EC5"/>
                </a:solidFill>
                <a:latin typeface="Calibri"/>
              </a:defRPr>
            </a:pPr>
            <a:r>
              <a:t>Write annotated images</a:t>
            </a:r>
            <a:br/>
            <a:r>
              <a:t>to dataset/output/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Dataset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Input images and processed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484632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📁  Raw Input (dataset/raw/)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img1.jpg — 11.6 KB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img2.jpg — 11.1 KB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img3.jpg — 13.4 KB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3 sample images for face detection testing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D2FF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Supports .jpg, .jpeg, and .png formats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737360"/>
            <a:ext cx="484632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76"/>
                </a:solidFill>
                <a:latin typeface="Calibri"/>
              </a:defRPr>
            </a:pPr>
            <a:r>
              <a:t>📁  Output (dataset/output/)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img1.jpg — 25.0 KB (annotated)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img2.jpg — 22.5 KB (annotated)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img3.jpg — 27.5 KB (annotated)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Output files are larger due to drawn bounding boxes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E676"/>
                </a:solidFill>
                <a:latin typeface="Calibri"/>
              </a:rPr>
              <a:t>▸ </a:t>
            </a:r>
            <a:r>
              <a:rPr sz="1500">
                <a:solidFill>
                  <a:srgbClr val="FFFFFF"/>
                </a:solidFill>
                <a:latin typeface="Calibri"/>
              </a:rPr>
              <a:t>Same filenames, different directory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Environment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test_setup.py — verifying dependencies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37360"/>
            <a:ext cx="10241280" cy="45720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2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⚙  Setup Verification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468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import cv2, numpy, tensorflow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16382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onsolas"/>
              </a:defRPr>
            </a:pPr>
            <a: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51129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print("OpenCV Version:", cv2.__version__)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8587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print("NumPy Version:", np.__version__)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print("TensorFlow Version:", tf.__version__)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901184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EC5"/>
                </a:solidFill>
                <a:latin typeface="Consolas"/>
              </a:defRPr>
            </a:pPr>
            <a: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52486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image = cv2.imread("../dataset/test.jpg")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59612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E676"/>
                </a:solidFill>
                <a:latin typeface="Consolas"/>
              </a:defRPr>
            </a:pPr>
            <a:r>
              <a:t>cv2.imshow("Test Image", image)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03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9F43"/>
                </a:solidFill>
                <a:latin typeface="Calibri"/>
              </a:defRPr>
            </a:pPr>
            <a:r>
              <a:t>Purpose: Ensure OpenCV, NumPy, and TensorFlow are installed correctly before running detection scripts.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13716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051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BEC5"/>
                </a:solidFill>
                <a:latin typeface="Calibri"/>
              </a:defRPr>
            </a:pPr>
            <a:r>
              <a:t>Potential improvements and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2004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74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Face 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Identify who the person is using embeddings (FaceNet, ArcFace)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2004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4FC3F7"/>
                </a:solidFill>
                <a:latin typeface="Calibri"/>
              </a:defRPr>
            </a:pPr>
            <a:r>
              <a:t>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874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Real-Time Video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Live webcam face detection and tracking using OpenCV VideoCapture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737360"/>
            <a:ext cx="32004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874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7C3AED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874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Model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3172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Train custom models on domain-specific datasets for improved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840480"/>
            <a:ext cx="32004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FF9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9F43"/>
                </a:solidFill>
                <a:latin typeface="Calibri"/>
              </a:defRPr>
            </a:pPr>
            <a:r>
              <a:t>☁️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Cloud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Deploy as a REST API using Flask/FastAPI for remote inference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840480"/>
            <a:ext cx="32004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E676"/>
                </a:solidFill>
                <a:latin typeface="Calibri"/>
              </a:defRPr>
            </a:pPr>
            <a:r>
              <a:t>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Database 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434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Store detected face data with metadata in SQLite/PostgreSQL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40" y="3840480"/>
            <a:ext cx="3200400" cy="1828800"/>
          </a:xfrm>
          <a:prstGeom prst="roundRect">
            <a:avLst/>
          </a:prstGeom>
          <a:solidFill>
            <a:srgbClr val="16213E"/>
          </a:solidFill>
          <a:ln w="19050">
            <a:solidFill>
              <a:srgbClr val="EC4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3977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EC407A"/>
                </a:solidFill>
                <a:latin typeface="Calibri"/>
              </a:defRPr>
            </a:pPr>
            <a:r>
              <a:t>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776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Web Interface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43484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BEC5"/>
                </a:solidFill>
                <a:latin typeface="Calibri"/>
              </a:defRPr>
            </a:pPr>
            <a:r>
              <a:t>Build a browser-based UI for uploading images and viewing results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4114800" cy="41148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0" y="2560320"/>
            <a:ext cx="3931920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BEC5"/>
                </a:solidFill>
                <a:latin typeface="Calibri"/>
              </a:defRPr>
            </a:pPr>
            <a:r>
              <a:t>Face Recognition System — Haar Cascade &amp; MTCNN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